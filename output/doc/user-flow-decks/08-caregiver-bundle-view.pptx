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8AB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685800" y="5029200"/>
            <a:ext cx="2286000" cy="2286000"/>
          </a:xfrm>
          <a:prstGeom prst="ellipse">
            <a:avLst/>
          </a:prstGeom>
          <a:solidFill>
            <a:srgbClr val="F5E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966960" y="-502920"/>
            <a:ext cx="2651760" cy="2651760"/>
          </a:xfrm>
          <a:prstGeom prst="ellipse">
            <a:avLst/>
          </a:prstGeom>
          <a:solidFill>
            <a:srgbClr val="DCF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3F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583680"/>
            <a:ext cx="594360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606F7E"/>
                </a:solidFill>
                <a:latin typeface="Aptos"/>
              </a:rPr>
              <a:t>Caregiver Bundle View • Verified 2026-04-23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411480"/>
            <a:ext cx="1627632" cy="310896"/>
          </a:xfrm>
          <a:prstGeom prst="roundRect">
            <a:avLst/>
          </a:prstGeom>
          <a:solidFill>
            <a:srgbClr val="8AB48A"/>
          </a:solidFill>
          <a:ln>
            <a:solidFill>
              <a:srgbClr val="8AB4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Caregiver Experience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914400"/>
            <a:ext cx="5486400" cy="12801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2600" b="1">
                <a:solidFill>
                  <a:srgbClr val="273340"/>
                </a:solidFill>
                <a:latin typeface="Aptos Display"/>
              </a:rPr>
              <a:t>Caregiver Bundle 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5216" y="1965960"/>
            <a:ext cx="5257800" cy="7315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300" b="0">
                <a:solidFill>
                  <a:srgbClr val="606F7E"/>
                </a:solidFill>
                <a:latin typeface="Aptos"/>
              </a:rPr>
              <a:t>Show what a caregiver sees after receiving a bundle link that contains multiple educational videos.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2834640"/>
            <a:ext cx="2331720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58952" y="2980944"/>
            <a:ext cx="1042415" cy="310896"/>
          </a:xfrm>
          <a:prstGeom prst="roundRect">
            <a:avLst/>
          </a:prstGeom>
          <a:solidFill>
            <a:srgbClr val="8AB48A"/>
          </a:solidFill>
          <a:ln>
            <a:solidFill>
              <a:srgbClr val="8AB4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Primary user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0664" y="3337560"/>
            <a:ext cx="2039112" cy="420623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350" b="0">
                <a:solidFill>
                  <a:srgbClr val="273340"/>
                </a:solidFill>
                <a:latin typeface="Aptos"/>
              </a:rPr>
              <a:t>Caregiver receiving a bundle patient link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127248" y="2834640"/>
            <a:ext cx="2651760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291840" y="2980944"/>
            <a:ext cx="969264" cy="310896"/>
          </a:xfrm>
          <a:prstGeom prst="roundRect">
            <a:avLst/>
          </a:prstGeom>
          <a:solidFill>
            <a:srgbClr val="8AB48A"/>
          </a:solidFill>
          <a:ln>
            <a:solidFill>
              <a:srgbClr val="8AB4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Entry point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73552" y="3337560"/>
            <a:ext cx="2359152" cy="420623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350" b="0">
                <a:solidFill>
                  <a:srgbClr val="273340"/>
                </a:solidFill>
                <a:latin typeface="Aptos"/>
              </a:rPr>
              <a:t>Secure bundle link in WhatsApp such as `/p/&lt;doctor_id&gt;/c/&lt;cluster_code&gt;/?lang=&lt;code&gt;&amp;d=&lt;signed-payload&gt;`.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92240" y="749808"/>
            <a:ext cx="5074920" cy="5440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02-patient-bundle-english-5632df6e8b0c633bed6f42b0f30d212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5392" y="822959"/>
            <a:ext cx="4928616" cy="5294376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03504" y="4187952"/>
            <a:ext cx="5257800" cy="1417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250" b="0">
                <a:solidFill>
                  <a:srgbClr val="273340"/>
                </a:solidFill>
                <a:latin typeface="Aptos"/>
              </a:rPr>
              <a:t>This page is the caregiver outcome when clinic staff or doctors use Share Bundle from the clinic workspace.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8AB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685800" y="5029200"/>
            <a:ext cx="2286000" cy="2286000"/>
          </a:xfrm>
          <a:prstGeom prst="ellipse">
            <a:avLst/>
          </a:prstGeom>
          <a:solidFill>
            <a:srgbClr val="F5E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966960" y="-502920"/>
            <a:ext cx="2651760" cy="2651760"/>
          </a:xfrm>
          <a:prstGeom prst="ellipse">
            <a:avLst/>
          </a:prstGeom>
          <a:solidFill>
            <a:srgbClr val="DCF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3F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583680"/>
            <a:ext cx="594360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606F7E"/>
                </a:solidFill>
                <a:latin typeface="Aptos"/>
              </a:rPr>
              <a:t>Workflow summary • Caregiver Bundle View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92608"/>
            <a:ext cx="969264" cy="310896"/>
          </a:xfrm>
          <a:prstGeom prst="roundRect">
            <a:avLst/>
          </a:prstGeom>
          <a:solidFill>
            <a:srgbClr val="8AB48A"/>
          </a:solidFill>
          <a:ln>
            <a:solidFill>
              <a:srgbClr val="8AB4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Workflow 08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828800" y="292608"/>
            <a:ext cx="1627632" cy="310896"/>
          </a:xfrm>
          <a:prstGeom prst="roundRect">
            <a:avLst/>
          </a:prstGeom>
          <a:solidFill>
            <a:srgbClr val="8AB48A"/>
          </a:solidFill>
          <a:ln>
            <a:solidFill>
              <a:srgbClr val="8AB4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Caregiver Experience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8368"/>
            <a:ext cx="6400800" cy="7772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2400" b="1">
                <a:solidFill>
                  <a:srgbClr val="273340"/>
                </a:solidFill>
                <a:latin typeface="Aptos Display"/>
              </a:rPr>
              <a:t>Workflow At A Glance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1207" y="1325880"/>
            <a:ext cx="6492240" cy="438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150" b="0">
                <a:solidFill>
                  <a:srgbClr val="606F7E"/>
                </a:solidFill>
                <a:latin typeface="Aptos"/>
              </a:rPr>
              <a:t>Purpose, user, entry point, and the operational outcome of this workflow.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1828800"/>
            <a:ext cx="352044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58952" y="1975104"/>
            <a:ext cx="914400" cy="310896"/>
          </a:xfrm>
          <a:prstGeom prst="roundRect">
            <a:avLst/>
          </a:prstGeom>
          <a:solidFill>
            <a:srgbClr val="8AB48A"/>
          </a:solidFill>
          <a:ln>
            <a:solidFill>
              <a:srgbClr val="8AB4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Purpose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0664" y="2331720"/>
            <a:ext cx="3227832" cy="5760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350" b="0">
                <a:solidFill>
                  <a:srgbClr val="273340"/>
                </a:solidFill>
                <a:latin typeface="Aptos"/>
              </a:rPr>
              <a:t>Show what a caregiver sees after receiving a bundle link that contains multiple educational videos.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61104" y="1828800"/>
            <a:ext cx="352044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425696" y="1975104"/>
            <a:ext cx="1042415" cy="310896"/>
          </a:xfrm>
          <a:prstGeom prst="roundRect">
            <a:avLst/>
          </a:prstGeom>
          <a:solidFill>
            <a:srgbClr val="8AB48A"/>
          </a:solidFill>
          <a:ln>
            <a:solidFill>
              <a:srgbClr val="8AB4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Primary user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07408" y="2331720"/>
            <a:ext cx="3227832" cy="5760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350" b="0">
                <a:solidFill>
                  <a:srgbClr val="273340"/>
                </a:solidFill>
                <a:latin typeface="Aptos"/>
              </a:rPr>
              <a:t>Caregiver receiving a bundle patient link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27848" y="1828800"/>
            <a:ext cx="365760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092440" y="1975104"/>
            <a:ext cx="969264" cy="310896"/>
          </a:xfrm>
          <a:prstGeom prst="roundRect">
            <a:avLst/>
          </a:prstGeom>
          <a:solidFill>
            <a:srgbClr val="8AB48A"/>
          </a:solidFill>
          <a:ln>
            <a:solidFill>
              <a:srgbClr val="8AB4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Entry point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74152" y="2331720"/>
            <a:ext cx="3364992" cy="5760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350" b="0">
                <a:solidFill>
                  <a:srgbClr val="273340"/>
                </a:solidFill>
                <a:latin typeface="Aptos"/>
              </a:rPr>
              <a:t>Secure bundle link in WhatsApp such as `/p/&lt;doctor_id&gt;/c/&lt;cluster_code&gt;/?lang=&lt;code&gt;&amp;d=&lt;signed-payload&gt;`.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" y="3337560"/>
            <a:ext cx="10991088" cy="24871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58952" y="3493008"/>
            <a:ext cx="1335024" cy="310896"/>
          </a:xfrm>
          <a:prstGeom prst="roundRect">
            <a:avLst/>
          </a:prstGeom>
          <a:solidFill>
            <a:srgbClr val="8AB48A"/>
          </a:solidFill>
          <a:ln>
            <a:solidFill>
              <a:srgbClr val="8AB4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Workflow summary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5528" y="3858768"/>
            <a:ext cx="10607040" cy="17373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normAutofit/>
          </a:bodyPr>
          <a:lstStyle/>
          <a:p>
            <a:pPr algn="l">
              <a:spcAft>
                <a:spcPts val="500"/>
              </a:spcAft>
            </a:pPr>
            <a:r>
              <a:rPr sz="1350">
                <a:solidFill>
                  <a:srgbClr val="8AB48A"/>
                </a:solidFill>
                <a:latin typeface="Aptos"/>
              </a:rPr>
              <a:t>• The caregiver lands on a multi-video patient page that retains the same clinic context as the single-video flow.</a:t>
            </a:r>
          </a:p>
          <a:p>
            <a:pPr algn="l">
              <a:spcAft>
                <a:spcPts val="500"/>
              </a:spcAft>
            </a:pPr>
            <a:r>
              <a:rPr sz="1350">
                <a:solidFill>
                  <a:srgbClr val="8AB48A"/>
                </a:solidFill>
                <a:latin typeface="Aptos"/>
              </a:rPr>
              <a:t>• The bundle page presents the collection title, the number of videos, and each video in sequence on the same page.</a:t>
            </a:r>
          </a:p>
          <a:p>
            <a:pPr algn="l">
              <a:spcAft>
                <a:spcPts val="500"/>
              </a:spcAft>
            </a:pPr>
            <a:r>
              <a:rPr sz="1350">
                <a:solidFill>
                  <a:srgbClr val="8AB48A"/>
                </a:solidFill>
                <a:latin typeface="Aptos"/>
              </a:rPr>
              <a:t>• The caregiver can switch language directly on the bundle page to reload the collection in another language.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8AB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685800" y="5029200"/>
            <a:ext cx="2286000" cy="2286000"/>
          </a:xfrm>
          <a:prstGeom prst="ellipse">
            <a:avLst/>
          </a:prstGeom>
          <a:solidFill>
            <a:srgbClr val="F5E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966960" y="-502920"/>
            <a:ext cx="2651760" cy="2651760"/>
          </a:xfrm>
          <a:prstGeom prst="ellipse">
            <a:avLst/>
          </a:prstGeom>
          <a:solidFill>
            <a:srgbClr val="DCF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3F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583680"/>
            <a:ext cx="594360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606F7E"/>
                </a:solidFill>
                <a:latin typeface="Aptos"/>
              </a:rPr>
              <a:t>Step 1 • Caregiver Bundle View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92608"/>
            <a:ext cx="969264" cy="310896"/>
          </a:xfrm>
          <a:prstGeom prst="roundRect">
            <a:avLst/>
          </a:prstGeom>
          <a:solidFill>
            <a:srgbClr val="8AB48A"/>
          </a:solidFill>
          <a:ln>
            <a:solidFill>
              <a:srgbClr val="8AB4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Workflow 08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828800" y="292608"/>
            <a:ext cx="1627632" cy="310896"/>
          </a:xfrm>
          <a:prstGeom prst="roundRect">
            <a:avLst/>
          </a:prstGeom>
          <a:solidFill>
            <a:srgbClr val="8AB48A"/>
          </a:solidFill>
          <a:ln>
            <a:solidFill>
              <a:srgbClr val="8AB4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Caregiver Experience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8368"/>
            <a:ext cx="6400800" cy="7772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2400" b="1">
                <a:solidFill>
                  <a:srgbClr val="273340"/>
                </a:solidFill>
                <a:latin typeface="Aptos Display"/>
              </a:rPr>
              <a:t>Step 1: Open the secure bundle link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1207" y="1325880"/>
            <a:ext cx="6492240" cy="438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150" b="0">
                <a:solidFill>
                  <a:srgbClr val="606F7E"/>
                </a:solidFill>
                <a:latin typeface="Aptos"/>
              </a:rPr>
              <a:t>Bundle page in Tamil.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1828800"/>
            <a:ext cx="10991088" cy="2651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01-patient-bundle-tamil-fd52de4e1eb19ab472a263e2177b256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" y="1901952"/>
            <a:ext cx="10844784" cy="2505456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594360" y="4681728"/>
            <a:ext cx="535838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40664" y="4846320"/>
            <a:ext cx="1481328" cy="310896"/>
          </a:xfrm>
          <a:prstGeom prst="roundRect">
            <a:avLst/>
          </a:prstGeom>
          <a:solidFill>
            <a:srgbClr val="8AB48A"/>
          </a:solidFill>
          <a:ln>
            <a:solidFill>
              <a:srgbClr val="8AB4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What the user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0664" y="5120640"/>
            <a:ext cx="5065776" cy="301751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150" b="0">
                <a:solidFill>
                  <a:srgbClr val="273340"/>
                </a:solidFill>
                <a:latin typeface="Aptos"/>
              </a:rPr>
              <a:t>Taps the WhatsApp link that was shared from the clinic.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0664" y="5422392"/>
            <a:ext cx="1188720" cy="310896"/>
          </a:xfrm>
          <a:prstGeom prst="roundRect">
            <a:avLst/>
          </a:prstGeom>
          <a:solidFill>
            <a:srgbClr val="8AB48A"/>
          </a:solidFill>
          <a:ln>
            <a:solidFill>
              <a:srgbClr val="8AB4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Why it matters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0664" y="5696712"/>
            <a:ext cx="5065776" cy="301751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150" b="0">
                <a:solidFill>
                  <a:srgbClr val="273340"/>
                </a:solidFill>
                <a:latin typeface="Aptos"/>
              </a:rPr>
              <a:t>The caregiver immediately knows this is a collection of related educational videos rather than a single item.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27064" y="4681728"/>
            <a:ext cx="535838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373368" y="4846320"/>
            <a:ext cx="1481328" cy="310896"/>
          </a:xfrm>
          <a:prstGeom prst="roundRect">
            <a:avLst/>
          </a:prstGeom>
          <a:solidFill>
            <a:srgbClr val="8AB48A"/>
          </a:solidFill>
          <a:ln>
            <a:solidFill>
              <a:srgbClr val="8AB4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What the user sees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73368" y="5120640"/>
            <a:ext cx="5065776" cy="301751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150" b="0">
                <a:solidFill>
                  <a:srgbClr val="273340"/>
                </a:solidFill>
                <a:latin typeface="Aptos"/>
              </a:rPr>
              <a:t>A clinic-branded bundle page showing the doctor identity, clinic details, bundle title, and video count.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73368" y="5422392"/>
            <a:ext cx="1261872" cy="310896"/>
          </a:xfrm>
          <a:prstGeom prst="roundRect">
            <a:avLst/>
          </a:prstGeom>
          <a:solidFill>
            <a:srgbClr val="8AB48A"/>
          </a:solidFill>
          <a:ln>
            <a:solidFill>
              <a:srgbClr val="8AB4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Expected result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3368" y="5696712"/>
            <a:ext cx="5065776" cy="301751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150" b="0">
                <a:solidFill>
                  <a:srgbClr val="273340"/>
                </a:solidFill>
                <a:latin typeface="Aptos"/>
              </a:rPr>
              <a:t>The bundle page opens in the shared language and shows the correct clinic context.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4360" y="6016752"/>
            <a:ext cx="10991088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49808" y="6053328"/>
            <a:ext cx="1042415" cy="310896"/>
          </a:xfrm>
          <a:prstGeom prst="roundRect">
            <a:avLst/>
          </a:prstGeom>
          <a:solidFill>
            <a:srgbClr val="8AB48A"/>
          </a:solidFill>
          <a:ln>
            <a:solidFill>
              <a:srgbClr val="8AB4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Trainer note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267712" y="6044184"/>
            <a:ext cx="9098280" cy="2011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normAutofit/>
          </a:bodyPr>
          <a:lstStyle/>
          <a:p>
            <a:pPr algn="l"/>
            <a:r>
              <a:rPr sz="1050" b="0">
                <a:solidFill>
                  <a:srgbClr val="273340"/>
                </a:solidFill>
                <a:latin typeface="Aptos"/>
              </a:rPr>
              <a:t>The bundle page keeps the same trust signals as the single-video page: doctor, clinic, address, and contact options.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8AB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685800" y="5029200"/>
            <a:ext cx="2286000" cy="2286000"/>
          </a:xfrm>
          <a:prstGeom prst="ellipse">
            <a:avLst/>
          </a:prstGeom>
          <a:solidFill>
            <a:srgbClr val="F5E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966960" y="-502920"/>
            <a:ext cx="2651760" cy="2651760"/>
          </a:xfrm>
          <a:prstGeom prst="ellipse">
            <a:avLst/>
          </a:prstGeom>
          <a:solidFill>
            <a:srgbClr val="DCF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3F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583680"/>
            <a:ext cx="594360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606F7E"/>
                </a:solidFill>
                <a:latin typeface="Aptos"/>
              </a:rPr>
              <a:t>Step 2 • Caregiver Bundle View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92608"/>
            <a:ext cx="969264" cy="310896"/>
          </a:xfrm>
          <a:prstGeom prst="roundRect">
            <a:avLst/>
          </a:prstGeom>
          <a:solidFill>
            <a:srgbClr val="8AB48A"/>
          </a:solidFill>
          <a:ln>
            <a:solidFill>
              <a:srgbClr val="8AB4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Workflow 08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828800" y="292608"/>
            <a:ext cx="1627632" cy="310896"/>
          </a:xfrm>
          <a:prstGeom prst="roundRect">
            <a:avLst/>
          </a:prstGeom>
          <a:solidFill>
            <a:srgbClr val="8AB48A"/>
          </a:solidFill>
          <a:ln>
            <a:solidFill>
              <a:srgbClr val="8AB4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Caregiver Experience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8368"/>
            <a:ext cx="6400800" cy="7772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2400" b="1">
                <a:solidFill>
                  <a:srgbClr val="273340"/>
                </a:solidFill>
                <a:latin typeface="Aptos Display"/>
              </a:rPr>
              <a:t>Step 2: Review the bundle title and listed videos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1207" y="1325880"/>
            <a:ext cx="6492240" cy="438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150" b="0">
                <a:solidFill>
                  <a:srgbClr val="606F7E"/>
                </a:solidFill>
                <a:latin typeface="Aptos"/>
              </a:rPr>
              <a:t>Bundle page showing multiple video entries.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1828800"/>
            <a:ext cx="10991088" cy="2651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02-patient-bundle-english-3ed915218cdc5067f74871690507ce5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" y="1901952"/>
            <a:ext cx="10844784" cy="2505456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594360" y="4681728"/>
            <a:ext cx="535838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40664" y="4846320"/>
            <a:ext cx="1481328" cy="310896"/>
          </a:xfrm>
          <a:prstGeom prst="roundRect">
            <a:avLst/>
          </a:prstGeom>
          <a:solidFill>
            <a:srgbClr val="8AB48A"/>
          </a:solidFill>
          <a:ln>
            <a:solidFill>
              <a:srgbClr val="8AB4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What the user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0664" y="5120640"/>
            <a:ext cx="5065776" cy="301751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150" b="0">
                <a:solidFill>
                  <a:srgbClr val="273340"/>
                </a:solidFill>
                <a:latin typeface="Aptos"/>
              </a:rPr>
              <a:t>Scrolls through the bundle to understand the sequence of educational videos provided by the clinic.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0664" y="5422392"/>
            <a:ext cx="1188720" cy="310896"/>
          </a:xfrm>
          <a:prstGeom prst="roundRect">
            <a:avLst/>
          </a:prstGeom>
          <a:solidFill>
            <a:srgbClr val="8AB48A"/>
          </a:solidFill>
          <a:ln>
            <a:solidFill>
              <a:srgbClr val="8AB4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Why it matters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0664" y="5696712"/>
            <a:ext cx="5065776" cy="301751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150" b="0">
                <a:solidFill>
                  <a:srgbClr val="273340"/>
                </a:solidFill>
                <a:latin typeface="Aptos"/>
              </a:rPr>
              <a:t>The caregiver can consume the collection as a guided set rather than looking for separate links.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27064" y="4681728"/>
            <a:ext cx="535838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373368" y="4846320"/>
            <a:ext cx="1481328" cy="310896"/>
          </a:xfrm>
          <a:prstGeom prst="roundRect">
            <a:avLst/>
          </a:prstGeom>
          <a:solidFill>
            <a:srgbClr val="8AB48A"/>
          </a:solidFill>
          <a:ln>
            <a:solidFill>
              <a:srgbClr val="8AB4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What the user sees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73368" y="5120640"/>
            <a:ext cx="5065776" cy="301751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150" b="0">
                <a:solidFill>
                  <a:srgbClr val="273340"/>
                </a:solidFill>
                <a:latin typeface="Aptos"/>
              </a:rPr>
              <a:t>Multiple video cards stacked under the bundle heading.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73368" y="5422392"/>
            <a:ext cx="1261872" cy="310896"/>
          </a:xfrm>
          <a:prstGeom prst="roundRect">
            <a:avLst/>
          </a:prstGeom>
          <a:solidFill>
            <a:srgbClr val="8AB48A"/>
          </a:solidFill>
          <a:ln>
            <a:solidFill>
              <a:srgbClr val="8AB4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Expected result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3368" y="5696712"/>
            <a:ext cx="5065776" cy="301751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150" b="0">
                <a:solidFill>
                  <a:srgbClr val="273340"/>
                </a:solidFill>
                <a:latin typeface="Aptos"/>
              </a:rPr>
              <a:t>The caregiver can identify how many videos are included and where each video begins.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4360" y="6016752"/>
            <a:ext cx="10991088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49808" y="6053328"/>
            <a:ext cx="1042415" cy="310896"/>
          </a:xfrm>
          <a:prstGeom prst="roundRect">
            <a:avLst/>
          </a:prstGeom>
          <a:solidFill>
            <a:srgbClr val="8AB48A"/>
          </a:solidFill>
          <a:ln>
            <a:solidFill>
              <a:srgbClr val="8AB4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Trainer note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267712" y="6044184"/>
            <a:ext cx="9098280" cy="2011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normAutofit/>
          </a:bodyPr>
          <a:lstStyle/>
          <a:p>
            <a:pPr algn="l"/>
            <a:r>
              <a:rPr sz="1050" b="0">
                <a:solidFill>
                  <a:srgbClr val="273340"/>
                </a:solidFill>
                <a:latin typeface="Aptos"/>
              </a:rPr>
              <a:t>During training, show caregivers how to continue scrolling after the first video rather than assuming the page stops there.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8AB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685800" y="5029200"/>
            <a:ext cx="2286000" cy="2286000"/>
          </a:xfrm>
          <a:prstGeom prst="ellipse">
            <a:avLst/>
          </a:prstGeom>
          <a:solidFill>
            <a:srgbClr val="F5E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966960" y="-502920"/>
            <a:ext cx="2651760" cy="2651760"/>
          </a:xfrm>
          <a:prstGeom prst="ellipse">
            <a:avLst/>
          </a:prstGeom>
          <a:solidFill>
            <a:srgbClr val="DCF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3F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583680"/>
            <a:ext cx="594360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606F7E"/>
                </a:solidFill>
                <a:latin typeface="Aptos"/>
              </a:rPr>
              <a:t>Step 3 • Caregiver Bundle View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92608"/>
            <a:ext cx="969264" cy="310896"/>
          </a:xfrm>
          <a:prstGeom prst="roundRect">
            <a:avLst/>
          </a:prstGeom>
          <a:solidFill>
            <a:srgbClr val="8AB48A"/>
          </a:solidFill>
          <a:ln>
            <a:solidFill>
              <a:srgbClr val="8AB4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Workflow 08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828800" y="292608"/>
            <a:ext cx="1627632" cy="310896"/>
          </a:xfrm>
          <a:prstGeom prst="roundRect">
            <a:avLst/>
          </a:prstGeom>
          <a:solidFill>
            <a:srgbClr val="8AB48A"/>
          </a:solidFill>
          <a:ln>
            <a:solidFill>
              <a:srgbClr val="8AB4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Caregiver Experience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8368"/>
            <a:ext cx="6400800" cy="7772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2400" b="1">
                <a:solidFill>
                  <a:srgbClr val="273340"/>
                </a:solidFill>
                <a:latin typeface="Aptos Display"/>
              </a:rPr>
              <a:t>Step 3: Play the videos in sequence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1207" y="1325880"/>
            <a:ext cx="6492240" cy="438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150" b="0">
                <a:solidFill>
                  <a:srgbClr val="606F7E"/>
                </a:solidFill>
                <a:latin typeface="Aptos"/>
              </a:rPr>
              <a:t>Embedded videos inside the bundle page.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1828800"/>
            <a:ext cx="10991088" cy="2651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01-patient-bundle-tamil-68e26c98903301a596d049a23c7c393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" y="1901952"/>
            <a:ext cx="10844784" cy="2505456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594360" y="4681728"/>
            <a:ext cx="535838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40664" y="4846320"/>
            <a:ext cx="1481328" cy="310896"/>
          </a:xfrm>
          <a:prstGeom prst="roundRect">
            <a:avLst/>
          </a:prstGeom>
          <a:solidFill>
            <a:srgbClr val="8AB48A"/>
          </a:solidFill>
          <a:ln>
            <a:solidFill>
              <a:srgbClr val="8AB4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What the user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0664" y="5120640"/>
            <a:ext cx="5065776" cy="301751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150" b="0">
                <a:solidFill>
                  <a:srgbClr val="273340"/>
                </a:solidFill>
                <a:latin typeface="Aptos"/>
              </a:rPr>
              <a:t>Starts with the first item and continues through the remaining content in the bundle.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0664" y="5422392"/>
            <a:ext cx="1188720" cy="310896"/>
          </a:xfrm>
          <a:prstGeom prst="roundRect">
            <a:avLst/>
          </a:prstGeom>
          <a:solidFill>
            <a:srgbClr val="8AB48A"/>
          </a:solidFill>
          <a:ln>
            <a:solidFill>
              <a:srgbClr val="8AB4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Why it matters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0664" y="5696712"/>
            <a:ext cx="5065776" cy="301751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150" b="0">
                <a:solidFill>
                  <a:srgbClr val="273340"/>
                </a:solidFill>
                <a:latin typeface="Aptos"/>
              </a:rPr>
              <a:t>The bundle workflow is designed for structured counseling or follow-up, not one-off playback.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27064" y="4681728"/>
            <a:ext cx="535838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373368" y="4846320"/>
            <a:ext cx="1481328" cy="310896"/>
          </a:xfrm>
          <a:prstGeom prst="roundRect">
            <a:avLst/>
          </a:prstGeom>
          <a:solidFill>
            <a:srgbClr val="8AB48A"/>
          </a:solidFill>
          <a:ln>
            <a:solidFill>
              <a:srgbClr val="8AB4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What the user sees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73368" y="5120640"/>
            <a:ext cx="5065776" cy="301751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150" b="0">
                <a:solidFill>
                  <a:srgbClr val="273340"/>
                </a:solidFill>
                <a:latin typeface="Aptos"/>
              </a:rPr>
              <a:t>Each video embedded inside its own content card on the same patient page.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73368" y="5422392"/>
            <a:ext cx="1261872" cy="310896"/>
          </a:xfrm>
          <a:prstGeom prst="roundRect">
            <a:avLst/>
          </a:prstGeom>
          <a:solidFill>
            <a:srgbClr val="8AB48A"/>
          </a:solidFill>
          <a:ln>
            <a:solidFill>
              <a:srgbClr val="8AB4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Expected result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3368" y="5696712"/>
            <a:ext cx="5065776" cy="301751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150" b="0">
                <a:solidFill>
                  <a:srgbClr val="273340"/>
                </a:solidFill>
                <a:latin typeface="Aptos"/>
              </a:rPr>
              <a:t>The caregiver can navigate the sequence without needing more links.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4360" y="6016752"/>
            <a:ext cx="10991088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49808" y="6053328"/>
            <a:ext cx="1042415" cy="310896"/>
          </a:xfrm>
          <a:prstGeom prst="roundRect">
            <a:avLst/>
          </a:prstGeom>
          <a:solidFill>
            <a:srgbClr val="8AB48A"/>
          </a:solidFill>
          <a:ln>
            <a:solidFill>
              <a:srgbClr val="8AB4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Trainer note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267712" y="6044184"/>
            <a:ext cx="9098280" cy="2011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normAutofit/>
          </a:bodyPr>
          <a:lstStyle/>
          <a:p>
            <a:pPr algn="l"/>
            <a:r>
              <a:rPr sz="1050" b="0">
                <a:solidFill>
                  <a:srgbClr val="273340"/>
                </a:solidFill>
                <a:latin typeface="Aptos"/>
              </a:rPr>
              <a:t>Some sources may show video-availability limitations from the provider. That is a source behavior, not a clinic-sharing failure.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8AB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685800" y="5029200"/>
            <a:ext cx="2286000" cy="2286000"/>
          </a:xfrm>
          <a:prstGeom prst="ellipse">
            <a:avLst/>
          </a:prstGeom>
          <a:solidFill>
            <a:srgbClr val="F5E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966960" y="-502920"/>
            <a:ext cx="2651760" cy="2651760"/>
          </a:xfrm>
          <a:prstGeom prst="ellipse">
            <a:avLst/>
          </a:prstGeom>
          <a:solidFill>
            <a:srgbClr val="DCF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3F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583680"/>
            <a:ext cx="594360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606F7E"/>
                </a:solidFill>
                <a:latin typeface="Aptos"/>
              </a:rPr>
              <a:t>Step 4 • Caregiver Bundle View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92608"/>
            <a:ext cx="969264" cy="310896"/>
          </a:xfrm>
          <a:prstGeom prst="roundRect">
            <a:avLst/>
          </a:prstGeom>
          <a:solidFill>
            <a:srgbClr val="8AB48A"/>
          </a:solidFill>
          <a:ln>
            <a:solidFill>
              <a:srgbClr val="8AB4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Workflow 08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828800" y="292608"/>
            <a:ext cx="1627632" cy="310896"/>
          </a:xfrm>
          <a:prstGeom prst="roundRect">
            <a:avLst/>
          </a:prstGeom>
          <a:solidFill>
            <a:srgbClr val="8AB48A"/>
          </a:solidFill>
          <a:ln>
            <a:solidFill>
              <a:srgbClr val="8AB4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Caregiver Experience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8368"/>
            <a:ext cx="6400800" cy="7772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2400" b="1">
                <a:solidFill>
                  <a:srgbClr val="273340"/>
                </a:solidFill>
                <a:latin typeface="Aptos Display"/>
              </a:rPr>
              <a:t>Step 4: Change language for the full bundle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1207" y="1325880"/>
            <a:ext cx="6492240" cy="438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150" b="0">
                <a:solidFill>
                  <a:srgbClr val="606F7E"/>
                </a:solidFill>
                <a:latin typeface="Aptos"/>
              </a:rPr>
              <a:t>Language selector on the bundle page.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1828800"/>
            <a:ext cx="10991088" cy="2651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02-patient-bundle-english-85f5bf244fdb922f8f3ba07a8957bed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" y="1901952"/>
            <a:ext cx="10844784" cy="2505456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594360" y="4681728"/>
            <a:ext cx="535838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40664" y="4846320"/>
            <a:ext cx="1481328" cy="310896"/>
          </a:xfrm>
          <a:prstGeom prst="roundRect">
            <a:avLst/>
          </a:prstGeom>
          <a:solidFill>
            <a:srgbClr val="8AB48A"/>
          </a:solidFill>
          <a:ln>
            <a:solidFill>
              <a:srgbClr val="8AB4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What the user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0664" y="5120640"/>
            <a:ext cx="5065776" cy="301751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150" b="0">
                <a:solidFill>
                  <a:srgbClr val="273340"/>
                </a:solidFill>
                <a:latin typeface="Aptos"/>
              </a:rPr>
              <a:t>Uses the Language dropdown to switch the bundle page into another supported language.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0664" y="5422392"/>
            <a:ext cx="1188720" cy="310896"/>
          </a:xfrm>
          <a:prstGeom prst="roundRect">
            <a:avLst/>
          </a:prstGeom>
          <a:solidFill>
            <a:srgbClr val="8AB48A"/>
          </a:solidFill>
          <a:ln>
            <a:solidFill>
              <a:srgbClr val="8AB4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Why it matters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0664" y="5696712"/>
            <a:ext cx="5065776" cy="301751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150" b="0">
                <a:solidFill>
                  <a:srgbClr val="273340"/>
                </a:solidFill>
                <a:latin typeface="Aptos"/>
              </a:rPr>
              <a:t>The caregiver does not need the clinic to send a second bundle link for another language.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27064" y="4681728"/>
            <a:ext cx="535838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373368" y="4846320"/>
            <a:ext cx="1481328" cy="310896"/>
          </a:xfrm>
          <a:prstGeom prst="roundRect">
            <a:avLst/>
          </a:prstGeom>
          <a:solidFill>
            <a:srgbClr val="8AB48A"/>
          </a:solidFill>
          <a:ln>
            <a:solidFill>
              <a:srgbClr val="8AB4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What the user sees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73368" y="5120640"/>
            <a:ext cx="5065776" cy="301751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150" b="0">
                <a:solidFill>
                  <a:srgbClr val="273340"/>
                </a:solidFill>
                <a:latin typeface="Aptos"/>
              </a:rPr>
              <a:t>A single language control that refreshes the full bundle page.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73368" y="5422392"/>
            <a:ext cx="1261872" cy="310896"/>
          </a:xfrm>
          <a:prstGeom prst="roundRect">
            <a:avLst/>
          </a:prstGeom>
          <a:solidFill>
            <a:srgbClr val="8AB48A"/>
          </a:solidFill>
          <a:ln>
            <a:solidFill>
              <a:srgbClr val="8AB4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Expected result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3368" y="5696712"/>
            <a:ext cx="5065776" cy="301751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150" b="0">
                <a:solidFill>
                  <a:srgbClr val="273340"/>
                </a:solidFill>
                <a:latin typeface="Aptos"/>
              </a:rPr>
              <a:t>The bundle page reloads in the chosen language while keeping the clinic context and video sequence.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4360" y="6016752"/>
            <a:ext cx="10991088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49808" y="6053328"/>
            <a:ext cx="1042415" cy="310896"/>
          </a:xfrm>
          <a:prstGeom prst="roundRect">
            <a:avLst/>
          </a:prstGeom>
          <a:solidFill>
            <a:srgbClr val="8AB48A"/>
          </a:solidFill>
          <a:ln>
            <a:solidFill>
              <a:srgbClr val="8AB4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Trainer note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267712" y="6044184"/>
            <a:ext cx="9098280" cy="2011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normAutofit/>
          </a:bodyPr>
          <a:lstStyle/>
          <a:p>
            <a:pPr algn="l"/>
            <a:r>
              <a:rPr sz="1050" b="0">
                <a:solidFill>
                  <a:srgbClr val="273340"/>
                </a:solidFill>
                <a:latin typeface="Aptos"/>
              </a:rPr>
              <a:t>Show caregivers that the language control lives in the bundle header area and applies across the whole page.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8AB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685800" y="5029200"/>
            <a:ext cx="2286000" cy="2286000"/>
          </a:xfrm>
          <a:prstGeom prst="ellipse">
            <a:avLst/>
          </a:prstGeom>
          <a:solidFill>
            <a:srgbClr val="F5E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966960" y="-502920"/>
            <a:ext cx="2651760" cy="2651760"/>
          </a:xfrm>
          <a:prstGeom prst="ellipse">
            <a:avLst/>
          </a:prstGeom>
          <a:solidFill>
            <a:srgbClr val="DCF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3F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583680"/>
            <a:ext cx="594360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606F7E"/>
                </a:solidFill>
                <a:latin typeface="Aptos"/>
              </a:rPr>
              <a:t>Trainer tips • Caregiver Bundle View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92608"/>
            <a:ext cx="969264" cy="310896"/>
          </a:xfrm>
          <a:prstGeom prst="roundRect">
            <a:avLst/>
          </a:prstGeom>
          <a:solidFill>
            <a:srgbClr val="8AB48A"/>
          </a:solidFill>
          <a:ln>
            <a:solidFill>
              <a:srgbClr val="8AB4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Workflow 08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828800" y="292608"/>
            <a:ext cx="1627632" cy="310896"/>
          </a:xfrm>
          <a:prstGeom prst="roundRect">
            <a:avLst/>
          </a:prstGeom>
          <a:solidFill>
            <a:srgbClr val="8AB48A"/>
          </a:solidFill>
          <a:ln>
            <a:solidFill>
              <a:srgbClr val="8AB4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Caregiver Experience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8368"/>
            <a:ext cx="6400800" cy="7772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2400" b="1">
                <a:solidFill>
                  <a:srgbClr val="273340"/>
                </a:solidFill>
                <a:latin typeface="Aptos Display"/>
              </a:rPr>
              <a:t>Trainer Tips And Common Issues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1207" y="1325880"/>
            <a:ext cx="6492240" cy="438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150" b="0">
                <a:solidFill>
                  <a:srgbClr val="606F7E"/>
                </a:solidFill>
                <a:latin typeface="Aptos"/>
              </a:rPr>
              <a:t>The highest-value coaching points to cover during rollout or onboarding sessions.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1847088"/>
            <a:ext cx="5349240" cy="15361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58952" y="1993392"/>
            <a:ext cx="2944368" cy="310896"/>
          </a:xfrm>
          <a:prstGeom prst="roundRect">
            <a:avLst/>
          </a:prstGeom>
          <a:solidFill>
            <a:srgbClr val="8AB48A"/>
          </a:solidFill>
          <a:ln>
            <a:solidFill>
              <a:srgbClr val="8AB4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Bundle versus single-video expectation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0664" y="2350008"/>
            <a:ext cx="5056631" cy="877824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350" b="0">
                <a:solidFill>
                  <a:srgbClr val="273340"/>
                </a:solidFill>
                <a:latin typeface="Aptos"/>
              </a:rPr>
              <a:t>Caregivers should expect a scrollable sequence of videos on this page, not a single embedded item only.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36208" y="1847088"/>
            <a:ext cx="5349240" cy="15361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400800" y="1993392"/>
            <a:ext cx="1993392" cy="310896"/>
          </a:xfrm>
          <a:prstGeom prst="roundRect">
            <a:avLst/>
          </a:prstGeom>
          <a:solidFill>
            <a:srgbClr val="8AB48A"/>
          </a:solidFill>
          <a:ln>
            <a:solidFill>
              <a:srgbClr val="8AB4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Video source restrictions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82512" y="2350008"/>
            <a:ext cx="5056631" cy="877824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350" b="0">
                <a:solidFill>
                  <a:srgbClr val="273340"/>
                </a:solidFill>
                <a:latin typeface="Aptos"/>
              </a:rPr>
              <a:t>When a provider blocks embedded playback, the issue is with the source content rather than the clinic share action.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3566160"/>
            <a:ext cx="5349240" cy="15361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58952" y="3712463"/>
            <a:ext cx="1481328" cy="310896"/>
          </a:xfrm>
          <a:prstGeom prst="roundRect">
            <a:avLst/>
          </a:prstGeom>
          <a:solidFill>
            <a:srgbClr val="8AB48A"/>
          </a:solidFill>
          <a:ln>
            <a:solidFill>
              <a:srgbClr val="8AB4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Language confusion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0664" y="4069080"/>
            <a:ext cx="5056631" cy="877824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350" b="0">
                <a:solidFill>
                  <a:srgbClr val="273340"/>
                </a:solidFill>
                <a:latin typeface="Aptos"/>
              </a:rPr>
              <a:t>The selected language applies to the bundle page itself, so remind caregivers to use the top-right selector if the default language is not ideal.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" y="5532120"/>
            <a:ext cx="10991088" cy="713232"/>
          </a:xfrm>
          <a:prstGeom prst="roundRect">
            <a:avLst/>
          </a:prstGeom>
          <a:solidFill>
            <a:srgbClr val="F5ECDF"/>
          </a:solidFill>
          <a:ln w="1270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58952" y="5669280"/>
            <a:ext cx="1261872" cy="310896"/>
          </a:xfrm>
          <a:prstGeom prst="roundRect">
            <a:avLst/>
          </a:prstGeom>
          <a:solidFill>
            <a:srgbClr val="8AB48A"/>
          </a:solidFill>
          <a:ln>
            <a:solidFill>
              <a:srgbClr val="8AB4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Success markers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48840" y="5632704"/>
            <a:ext cx="9144000" cy="493776"/>
          </a:xfrm>
          <a:prstGeom prst="rect">
            <a:avLst/>
          </a:prstGeom>
          <a:noFill/>
        </p:spPr>
        <p:txBody>
          <a:bodyPr wrap="square" anchor="t" lIns="50800" rIns="50800" tIns="25400" bIns="25400">
            <a:normAutofit/>
          </a:bodyPr>
          <a:lstStyle/>
          <a:p>
            <a:pPr algn="l">
              <a:spcAft>
                <a:spcPts val="500"/>
              </a:spcAft>
            </a:pPr>
            <a:r>
              <a:rPr sz="1150">
                <a:solidFill>
                  <a:srgbClr val="8AB48A"/>
                </a:solidFill>
                <a:latin typeface="Aptos"/>
              </a:rPr>
              <a:t>• The caregiver can see that the page contains a full collection rather than one video.</a:t>
            </a:r>
          </a:p>
          <a:p>
            <a:pPr algn="l">
              <a:spcAft>
                <a:spcPts val="500"/>
              </a:spcAft>
            </a:pPr>
            <a:r>
              <a:rPr sz="1150">
                <a:solidFill>
                  <a:srgbClr val="8AB48A"/>
                </a:solidFill>
                <a:latin typeface="Aptos"/>
              </a:rPr>
              <a:t>• The page shows the clinic identity and the selected bundle title clearly.</a:t>
            </a:r>
          </a:p>
          <a:p>
            <a:pPr algn="l">
              <a:spcAft>
                <a:spcPts val="500"/>
              </a:spcAft>
            </a:pPr>
            <a:r>
              <a:rPr sz="1150">
                <a:solidFill>
                  <a:srgbClr val="8AB48A"/>
                </a:solidFill>
                <a:latin typeface="Aptos"/>
              </a:rPr>
              <a:t>• Language can be changed on the same page without needing a new message from the clinic.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8AB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685800" y="5029200"/>
            <a:ext cx="2286000" cy="2286000"/>
          </a:xfrm>
          <a:prstGeom prst="ellipse">
            <a:avLst/>
          </a:prstGeom>
          <a:solidFill>
            <a:srgbClr val="F5E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966960" y="-502920"/>
            <a:ext cx="2651760" cy="2651760"/>
          </a:xfrm>
          <a:prstGeom prst="ellipse">
            <a:avLst/>
          </a:prstGeom>
          <a:solidFill>
            <a:srgbClr val="DCF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3F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583680"/>
            <a:ext cx="594360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606F7E"/>
                </a:solidFill>
                <a:latin typeface="Aptos"/>
              </a:rPr>
              <a:t>Workflow complete • Caregiver Bundle View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502920"/>
            <a:ext cx="1408176" cy="310896"/>
          </a:xfrm>
          <a:prstGeom prst="roundRect">
            <a:avLst/>
          </a:prstGeom>
          <a:solidFill>
            <a:srgbClr val="8AB48A"/>
          </a:solidFill>
          <a:ln>
            <a:solidFill>
              <a:srgbClr val="8AB4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Workflow complete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" y="1005840"/>
            <a:ext cx="5212080" cy="8229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2400" b="1">
                <a:solidFill>
                  <a:srgbClr val="273340"/>
                </a:solidFill>
                <a:latin typeface="Aptos Display"/>
              </a:rPr>
              <a:t>Caregiver Bundle 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1828800"/>
            <a:ext cx="5212080" cy="6583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250" b="0">
                <a:solidFill>
                  <a:srgbClr val="606F7E"/>
                </a:solidFill>
                <a:latin typeface="Aptos"/>
              </a:rPr>
              <a:t>This page is the caregiver outcome when clinic staff or doctors use Share Bundle from the clinic workspace.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" y="2743200"/>
            <a:ext cx="5212080" cy="2697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86384" y="2907792"/>
            <a:ext cx="1335024" cy="310896"/>
          </a:xfrm>
          <a:prstGeom prst="roundRect">
            <a:avLst/>
          </a:prstGeom>
          <a:solidFill>
            <a:srgbClr val="8AB48A"/>
          </a:solidFill>
          <a:ln>
            <a:solidFill>
              <a:srgbClr val="8AB4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Success criteria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" y="3273552"/>
            <a:ext cx="4828032" cy="1810512"/>
          </a:xfrm>
          <a:prstGeom prst="rect">
            <a:avLst/>
          </a:prstGeom>
          <a:noFill/>
        </p:spPr>
        <p:txBody>
          <a:bodyPr wrap="square" anchor="t" lIns="50800" rIns="50800" tIns="25400" bIns="25400">
            <a:normAutofit/>
          </a:bodyPr>
          <a:lstStyle/>
          <a:p>
            <a:pPr algn="l">
              <a:spcAft>
                <a:spcPts val="500"/>
              </a:spcAft>
            </a:pPr>
            <a:r>
              <a:rPr sz="1200">
                <a:solidFill>
                  <a:srgbClr val="8AB48A"/>
                </a:solidFill>
                <a:latin typeface="Aptos"/>
              </a:rPr>
              <a:t>• The caregiver can see that the page contains a full collection rather than one video.</a:t>
            </a:r>
          </a:p>
          <a:p>
            <a:pPr algn="l">
              <a:spcAft>
                <a:spcPts val="500"/>
              </a:spcAft>
            </a:pPr>
            <a:r>
              <a:rPr sz="1200">
                <a:solidFill>
                  <a:srgbClr val="8AB48A"/>
                </a:solidFill>
                <a:latin typeface="Aptos"/>
              </a:rPr>
              <a:t>• The page shows the clinic identity and the selected bundle title clearly.</a:t>
            </a:r>
          </a:p>
          <a:p>
            <a:pPr algn="l">
              <a:spcAft>
                <a:spcPts val="500"/>
              </a:spcAft>
            </a:pPr>
            <a:r>
              <a:rPr sz="1200">
                <a:solidFill>
                  <a:srgbClr val="8AB48A"/>
                </a:solidFill>
                <a:latin typeface="Aptos"/>
              </a:rPr>
              <a:t>• Language can be changed on the same page without needing a new message from the clinic.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80760" y="914400"/>
            <a:ext cx="5504688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254496" y="1078992"/>
            <a:ext cx="1261872" cy="310896"/>
          </a:xfrm>
          <a:prstGeom prst="roundRect">
            <a:avLst/>
          </a:prstGeom>
          <a:solidFill>
            <a:srgbClr val="8AB48A"/>
          </a:solidFill>
          <a:ln>
            <a:solidFill>
              <a:srgbClr val="8AB4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Related manuals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40" y="1444752"/>
            <a:ext cx="5074920" cy="1417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normAutofit/>
          </a:bodyPr>
          <a:lstStyle/>
          <a:p>
            <a:pPr algn="l">
              <a:spcAft>
                <a:spcPts val="500"/>
              </a:spcAft>
            </a:pPr>
            <a:r>
              <a:rPr sz="1200">
                <a:solidFill>
                  <a:srgbClr val="8AB48A"/>
                </a:solidFill>
                <a:latin typeface="Aptos"/>
              </a:rPr>
              <a:t>• 06-clinic-staff-share-bundle.md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54496" y="3182112"/>
            <a:ext cx="914400" cy="310896"/>
          </a:xfrm>
          <a:prstGeom prst="roundRect">
            <a:avLst/>
          </a:prstGeom>
          <a:solidFill>
            <a:srgbClr val="8AB48A"/>
          </a:solidFill>
          <a:ln>
            <a:solidFill>
              <a:srgbClr val="8AB4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Status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3640" y="3529584"/>
            <a:ext cx="4937760" cy="1024128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200" b="0">
                <a:solidFill>
                  <a:srgbClr val="273340"/>
                </a:solidFill>
                <a:latin typeface="Aptos"/>
              </a:rPr>
              <a:t>Live-verified against the local demo environment and refreshed with real screenshots on 2026-04-23.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