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platform-overview-and-role-map.pptx" TargetMode="External"/><Relationship Id="rId3" Type="http://schemas.openxmlformats.org/officeDocument/2006/relationships/hyperlink" Target="02-publisher-campaign-setup.pptx" TargetMode="External"/><Relationship Id="rId4" Type="http://schemas.openxmlformats.org/officeDocument/2006/relationships/hyperlink" Target="03-field-rep-doctor-recruitment.pptx" TargetMode="External"/><Relationship Id="rId5" Type="http://schemas.openxmlformats.org/officeDocument/2006/relationships/hyperlink" Target="04-doctor-registration-and-first-access.pptx" TargetMode="External"/><Relationship Id="rId6" Type="http://schemas.openxmlformats.org/officeDocument/2006/relationships/hyperlink" Target="05-doctor-share-single-video.pptx" TargetMode="External"/><Relationship Id="rId7" Type="http://schemas.openxmlformats.org/officeDocument/2006/relationships/hyperlink" Target="06-clinic-staff-share-bundle.ppt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7-caregiver-single-video-view.pptx" TargetMode="External"/><Relationship Id="rId3" Type="http://schemas.openxmlformats.org/officeDocument/2006/relationships/hyperlink" Target="08-caregiver-bundle-view.pptx" TargetMode="External"/><Relationship Id="rId4" Type="http://schemas.openxmlformats.org/officeDocument/2006/relationships/hyperlink" Target="09-admin-content-management.pptx" TargetMode="External"/><Relationship Id="rId5" Type="http://schemas.openxmlformats.org/officeDocument/2006/relationships/hyperlink" Target="10-share-tracking-dashboard.pptx" TargetMode="External"/><Relationship Id="rId6" Type="http://schemas.openxmlformats.org/officeDocument/2006/relationships/hyperlink" Target="11-pe-records-dashboard.pptx" TargetMode="External"/><Relationship Id="rId7" Type="http://schemas.openxmlformats.org/officeDocument/2006/relationships/hyperlink" Target="12-system-records-hub.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Open this deck first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57200"/>
            <a:ext cx="1042415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Master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56692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800" b="1">
                <a:solidFill>
                  <a:srgbClr val="273340"/>
                </a:solidFill>
                <a:latin typeface="Aptos Display"/>
              </a:rPr>
              <a:t>PedsEdu User Flow Training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4864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Live-verified workflow guides for trainers, onboarding teams, and client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3035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273340"/>
                </a:solidFill>
                <a:latin typeface="Aptos"/>
              </a:rPr>
              <a:t>Keep this index deck in the same folder as the workflow decks. All links below are written as sibling-file links so the pack remains shareable.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5303520" cy="1325880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4462272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800600"/>
            <a:ext cx="498348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273340"/>
                </a:solidFill>
                <a:latin typeface="Aptos"/>
              </a:rPr>
              <a:t>12 workflow decks plus this master index deck.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822960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login-entry-ebdc4ad7db812a12a6d86f95c96060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896112"/>
            <a:ext cx="4928616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8B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Index • Platform and clinic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57200"/>
            <a:ext cx="118872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804672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>
                <a:solidFill>
                  <a:srgbClr val="273340"/>
                </a:solidFill>
                <a:latin typeface="Aptos Display"/>
              </a:rPr>
              <a:t>Platform and clinic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2139696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Platform and Campaign Setup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621792" y="219456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322576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Platform Overview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Explain what the product does, which roles participate in the end-to-end journey, where each operational workflow starts, and how internal oversight surfaces support rollout.</a:t>
            </a:r>
          </a:p>
          <a:p>
            <a:r>
              <a:rPr sz="1000" b="1">
                <a:solidFill>
                  <a:srgbClr val="28B2B1"/>
                </a:solidFill>
                <a:latin typeface="Aptos"/>
                <a:hlinkClick r:id="rId2"/>
              </a:rPr>
              <a:t>01-platform-overview-and-role-map.pptx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6245351" y="219456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7" y="2322576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3" y="2651760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Publisher Campaign Setup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a publisher how to open a campaign from an SSO link, select campaign content, configure templates, and save the campaign record.</a:t>
            </a:r>
          </a:p>
          <a:p>
            <a:r>
              <a:rPr sz="1000" b="1">
                <a:solidFill>
                  <a:srgbClr val="28B2B1"/>
                </a:solidFill>
                <a:latin typeface="Aptos"/>
                <a:hlinkClick r:id="rId3"/>
              </a:rPr>
              <a:t>02-publisher-campaign-setup.pptx</a:t>
            </a: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621792" y="3538728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666744"/>
            <a:ext cx="914400" cy="310896"/>
          </a:xfrm>
          <a:prstGeom prst="roundRect">
            <a:avLst/>
          </a:prstGeom>
          <a:solidFill>
            <a:srgbClr val="28B2B1"/>
          </a:solidFill>
          <a:ln>
            <a:solidFill>
              <a:srgbClr val="28B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995928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Field Rep Recruitment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how a field rep uses the campaign link to recruit a clinic by checking a doctor's WhatsApp number and routing the clinic correctly.</a:t>
            </a:r>
          </a:p>
          <a:p>
            <a:r>
              <a:rPr sz="1000" b="1">
                <a:solidFill>
                  <a:srgbClr val="28B2B1"/>
                </a:solidFill>
                <a:latin typeface="Aptos"/>
                <a:hlinkClick r:id="rId4"/>
              </a:rPr>
              <a:t>03-field-rep-doctor-recruitment.pptx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111496"/>
            <a:ext cx="22860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Clinic Onboarding and Sharing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621792" y="5522976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5650992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5980176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Doctor Registration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a new clinic how to complete doctor registration and understand the first-login handoff.</a:t>
            </a:r>
          </a:p>
          <a:p>
            <a:r>
              <a:rPr sz="1000" b="1">
                <a:solidFill>
                  <a:srgbClr val="344AA3"/>
                </a:solidFill>
                <a:latin typeface="Aptos"/>
                <a:hlinkClick r:id="rId5"/>
              </a:rPr>
              <a:t>04-doctor-registration-and-first-access.pptx</a:t>
            </a:r>
          </a:p>
        </p:txBody>
      </p:sp>
      <p:sp>
        <p:nvSpPr>
          <p:cNvPr id="23" name="Rounded Rectangle 22">
            <a:hlinkClick r:id="rId6"/>
          </p:cNvPr>
          <p:cNvSpPr/>
          <p:nvPr/>
        </p:nvSpPr>
        <p:spPr>
          <a:xfrm>
            <a:off x="6245351" y="5522976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3367" y="5650992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5980176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Doctor Single Video Share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a doctor how to log in, search the catalog, select a single video, and share it to a caregiver through WhatsApp.</a:t>
            </a:r>
          </a:p>
          <a:p>
            <a:r>
              <a:rPr sz="1000" b="1">
                <a:solidFill>
                  <a:srgbClr val="344AA3"/>
                </a:solidFill>
                <a:latin typeface="Aptos"/>
                <a:hlinkClick r:id="rId6"/>
              </a:rPr>
              <a:t>05-doctor-share-single-video.pptx</a:t>
            </a:r>
          </a:p>
        </p:txBody>
      </p:sp>
      <p:sp>
        <p:nvSpPr>
          <p:cNvPr id="26" name="Rounded Rectangle 25">
            <a:hlinkClick r:id="rId7"/>
          </p:cNvPr>
          <p:cNvSpPr/>
          <p:nvPr/>
        </p:nvSpPr>
        <p:spPr>
          <a:xfrm>
            <a:off x="621792" y="6867144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6995159"/>
            <a:ext cx="914400" cy="310896"/>
          </a:xfrm>
          <a:prstGeom prst="roundRect">
            <a:avLst/>
          </a:prstGeom>
          <a:solidFill>
            <a:srgbClr val="344AA3"/>
          </a:solidFill>
          <a:ln>
            <a:solidFill>
              <a:srgbClr val="344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7324344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Clinic Staff Bundle Share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a clinic staff member how to log in to the same clinic workspace, choose a full bundle, and share it with a caregiver.</a:t>
            </a:r>
          </a:p>
          <a:p>
            <a:r>
              <a:rPr sz="1000" b="1">
                <a:solidFill>
                  <a:srgbClr val="344AA3"/>
                </a:solidFill>
                <a:latin typeface="Aptos"/>
                <a:hlinkClick r:id="rId7"/>
              </a:rPr>
              <a:t>06-clinic-staff-share-bundle.pptx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868680"/>
            <a:ext cx="21945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000" b="0">
                <a:solidFill>
                  <a:srgbClr val="606F7E"/>
                </a:solidFill>
                <a:latin typeface="Aptos"/>
              </a:rPr>
              <a:t>Click a workflow title or filename to open the sibling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Index • Caregiver and internal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57200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14400"/>
            <a:ext cx="804672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>
                <a:solidFill>
                  <a:srgbClr val="273340"/>
                </a:solidFill>
                <a:latin typeface="Aptos Display"/>
              </a:rPr>
              <a:t>Caregiver and internal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621792" y="219456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322576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51760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Caregiver Single Video View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what a caregiver sees after opening a shared single-video link from WhatsApp.</a:t>
            </a:r>
          </a:p>
          <a:p>
            <a:r>
              <a:rPr sz="1000" b="1">
                <a:solidFill>
                  <a:srgbClr val="8AB48A"/>
                </a:solidFill>
                <a:latin typeface="Aptos"/>
                <a:hlinkClick r:id="rId2"/>
              </a:rPr>
              <a:t>07-caregiver-single-video-view.pptx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6245351" y="2194560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3367" y="2322576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3" y="2651760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Caregiver Bundle View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what a caregiver sees after receiving a bundle link that contains multiple educational videos.</a:t>
            </a:r>
          </a:p>
          <a:p>
            <a:r>
              <a:rPr sz="1000" b="1">
                <a:solidFill>
                  <a:srgbClr val="8AB48A"/>
                </a:solidFill>
                <a:latin typeface="Aptos"/>
                <a:hlinkClick r:id="rId3"/>
              </a:rPr>
              <a:t>08-caregiver-bundle-view.pptx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767328"/>
            <a:ext cx="155448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Internal Operations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621792" y="4178808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430682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636008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Admin Content Management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internal staff how to enter the publishing dashboard, review the video catalog, and edit a video's metadata and language rows.</a:t>
            </a:r>
          </a:p>
          <a:p>
            <a:r>
              <a:rPr sz="1000" b="1">
                <a:solidFill>
                  <a:srgbClr val="EC7153"/>
                </a:solidFill>
                <a:latin typeface="Aptos"/>
                <a:hlinkClick r:id="rId4"/>
              </a:rPr>
              <a:t>09-admin-content-management.pptx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6245351" y="4178808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3367" y="4306824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4636008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Share Tracking Dashboard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internal superusers how to open the share tracking dashboard and review doctor shares, playback milestones, and banner engagement.</a:t>
            </a:r>
          </a:p>
          <a:p>
            <a:r>
              <a:rPr sz="1000" b="1">
                <a:solidFill>
                  <a:srgbClr val="EC7153"/>
                </a:solidFill>
                <a:latin typeface="Aptos"/>
                <a:hlinkClick r:id="rId5"/>
              </a:rPr>
              <a:t>10-share-tracking-dashboard.pptx</a:t>
            </a:r>
          </a:p>
        </p:txBody>
      </p:sp>
      <p:sp>
        <p:nvSpPr>
          <p:cNvPr id="23" name="Rounded Rectangle 22">
            <a:hlinkClick r:id="rId6"/>
          </p:cNvPr>
          <p:cNvSpPr/>
          <p:nvPr/>
        </p:nvSpPr>
        <p:spPr>
          <a:xfrm>
            <a:off x="621792" y="5522976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5099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980176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PE Records Dashboard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internal superusers how to open the PE-only records dashboard and manage campaign, field-rep, and doctor records scoped to Patient Education campaigns.</a:t>
            </a:r>
          </a:p>
          <a:p>
            <a:r>
              <a:rPr sz="1000" b="1">
                <a:solidFill>
                  <a:srgbClr val="EC7153"/>
                </a:solidFill>
                <a:latin typeface="Aptos"/>
                <a:hlinkClick r:id="rId6"/>
              </a:rPr>
              <a:t>11-pe-records-dashboard.pptx</a:t>
            </a:r>
          </a:p>
        </p:txBody>
      </p:sp>
      <p:sp>
        <p:nvSpPr>
          <p:cNvPr id="26" name="Rounded Rectangle 25">
            <a:hlinkClick r:id="rId7"/>
          </p:cNvPr>
          <p:cNvSpPr/>
          <p:nvPr/>
        </p:nvSpPr>
        <p:spPr>
          <a:xfrm>
            <a:off x="6245351" y="5522976"/>
            <a:ext cx="5349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73367" y="5650992"/>
            <a:ext cx="914400" cy="310896"/>
          </a:xfrm>
          <a:prstGeom prst="roundRect">
            <a:avLst/>
          </a:prstGeom>
          <a:solidFill>
            <a:srgbClr val="EC7153"/>
          </a:solidFill>
          <a:ln>
            <a:solidFill>
              <a:srgbClr val="EC7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3" y="5980176"/>
            <a:ext cx="5020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3340"/>
                </a:solidFill>
                <a:latin typeface="Aptos Display"/>
              </a:rPr>
              <a:t>System Records Hub</a:t>
            </a:r>
          </a:p>
          <a:p>
            <a:pPr>
              <a:spcAft>
                <a:spcPts val="0"/>
              </a:spcAft>
            </a:pPr>
            <a:r>
              <a:rPr sz="1080">
                <a:solidFill>
                  <a:srgbClr val="606F7E"/>
                </a:solidFill>
                <a:latin typeface="Aptos"/>
              </a:rPr>
              <a:t>Show local superusers how to use the broader System Records Hub to review local campaign configurations and maintain master field-rep and doctor records.</a:t>
            </a:r>
          </a:p>
          <a:p>
            <a:r>
              <a:rPr sz="1000" b="1">
                <a:solidFill>
                  <a:srgbClr val="EC7153"/>
                </a:solidFill>
                <a:latin typeface="Aptos"/>
                <a:hlinkClick r:id="rId7"/>
              </a:rPr>
              <a:t>12-system-records-hub.pptx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868680"/>
            <a:ext cx="219456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r"/>
            <a:r>
              <a:rPr sz="1000" b="0">
                <a:solidFill>
                  <a:srgbClr val="606F7E"/>
                </a:solidFill>
                <a:latin typeface="Aptos"/>
              </a:rPr>
              <a:t>Click a workflow title or filename to open the sibling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